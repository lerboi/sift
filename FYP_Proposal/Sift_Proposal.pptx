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6ED60-2179-4BA0-8449-CC9F692A7C3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36D16-66FE-4765-8E59-BACB8FBEC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736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236D16-66FE-4765-8E59-BACB8FBECF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19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8E86"/>
                </a:solidFill>
                <a:latin typeface="Calibri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0" b="1">
                <a:solidFill>
                  <a:srgbClr val="101A2E"/>
                </a:solidFill>
                <a:latin typeface="Calibri"/>
              </a:rPr>
              <a:t>Sift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56072"/>
                </a:solidFill>
                <a:latin typeface="Calibri"/>
              </a:rPr>
              <a:t>An AI tool that explains company earnings to non-expert investors.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101A2E"/>
                </a:solidFill>
                <a:latin typeface="Calibri"/>
              </a:rPr>
              <a:t>CM30</a:t>
            </a:r>
            <a:r>
              <a:rPr lang="en-US" sz="1300" b="1" dirty="0">
                <a:solidFill>
                  <a:srgbClr val="101A2E"/>
                </a:solidFill>
                <a:latin typeface="Calibri"/>
              </a:rPr>
              <a:t>7</a:t>
            </a:r>
            <a:r>
              <a:rPr sz="1300" b="1" dirty="0">
                <a:solidFill>
                  <a:srgbClr val="101A2E"/>
                </a:solidFill>
                <a:latin typeface="Calibri"/>
              </a:rPr>
              <a:t>0 </a:t>
            </a:r>
            <a:r>
              <a:rPr lang="en-US" sz="1300" b="1" dirty="0">
                <a:solidFill>
                  <a:srgbClr val="101A2E"/>
                </a:solidFill>
                <a:latin typeface="Calibri"/>
              </a:rPr>
              <a:t>Final Year Project</a:t>
            </a:r>
            <a:r>
              <a:rPr sz="1300" b="1" dirty="0">
                <a:solidFill>
                  <a:srgbClr val="101A2E"/>
                </a:solidFill>
                <a:latin typeface="Calibri"/>
              </a:rPr>
              <a:t>  ·  Template 4.2 — Financial Advisor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072"/>
                </a:solidFill>
                <a:latin typeface="Calibri"/>
              </a:rPr>
              <a:t>Leroy Ng  ·  University of London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8E86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01A2E"/>
                </a:solidFill>
                <a:latin typeface="Calibri"/>
              </a:rPr>
              <a:t>Most everyday investors can't parse what companies actually publish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8E86"/>
                </a:solidFill>
                <a:latin typeface="Calibri"/>
              </a:rPr>
              <a:t>WHAT COMPANIES PUBLISH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101A2E"/>
                </a:solidFill>
                <a:latin typeface="Calibri"/>
              </a:rPr>
              <a:t>Dense filings · hour-long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30352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556072"/>
                </a:solidFill>
                <a:latin typeface="Calibri"/>
              </a:rPr>
              <a:t>Formal 8-K filings, multi-page press releases, and earnings call transcripts written for professional analysts. Heavy on </a:t>
            </a:r>
            <a:r>
              <a:rPr lang="en-US" sz="1500" b="0" dirty="0">
                <a:solidFill>
                  <a:srgbClr val="556072"/>
                </a:solidFill>
                <a:latin typeface="Calibri"/>
              </a:rPr>
              <a:t>technical terms</a:t>
            </a:r>
            <a:r>
              <a:rPr sz="1500" b="0" dirty="0">
                <a:solidFill>
                  <a:srgbClr val="556072"/>
                </a:solidFill>
                <a:latin typeface="Calibri"/>
              </a:rPr>
              <a:t> </a:t>
            </a:r>
            <a:r>
              <a:rPr lang="en-US" sz="1500" b="0" dirty="0">
                <a:solidFill>
                  <a:srgbClr val="556072"/>
                </a:solidFill>
                <a:latin typeface="Calibri"/>
              </a:rPr>
              <a:t>(</a:t>
            </a:r>
            <a:r>
              <a:rPr sz="1500" b="0" dirty="0">
                <a:solidFill>
                  <a:srgbClr val="556072"/>
                </a:solidFill>
                <a:latin typeface="Calibri"/>
              </a:rPr>
              <a:t>guidance, margins, EBITDA, free cash flow</a:t>
            </a:r>
            <a:r>
              <a:rPr lang="en-US" sz="1500" dirty="0">
                <a:solidFill>
                  <a:srgbClr val="556072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556072"/>
                </a:solidFill>
                <a:latin typeface="Calibri"/>
              </a:rPr>
              <a:t>etc</a:t>
            </a:r>
            <a:r>
              <a:rPr lang="en-US" sz="1500" dirty="0">
                <a:solidFill>
                  <a:srgbClr val="556072"/>
                </a:solidFill>
                <a:latin typeface="Calibri"/>
              </a:rPr>
              <a:t>)</a:t>
            </a:r>
            <a:endParaRPr sz="1500" b="0" dirty="0">
              <a:solidFill>
                <a:srgbClr val="556072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63640" y="21945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8E86"/>
                </a:solidFill>
                <a:latin typeface="Calibri"/>
              </a:rPr>
              <a:t>WHAT MOST RETAIL USERS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56032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01A2E"/>
                </a:solidFill>
                <a:latin typeface="Calibri"/>
              </a:rPr>
              <a:t>A date · a single EPS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200400"/>
            <a:ext cx="53035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6072"/>
                </a:solidFill>
                <a:latin typeface="Calibri"/>
              </a:rPr>
              <a:t>Yahoo Finance and broker apps show the release date and the headline earnings figure. No context, no explanation of what any of it means.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943600"/>
            <a:ext cx="10927080" cy="635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A2E"/>
                </a:solidFill>
                <a:latin typeface="Calibri"/>
              </a:rPr>
              <a:t>The project asks whether current AI can turn dense filings into plain-English explanations users can learn from.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27080" cy="635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556072"/>
                </a:solidFill>
                <a:latin typeface="Calibri"/>
              </a:rPr>
              <a:t>Sift  ·  CM30</a:t>
            </a:r>
            <a:r>
              <a:rPr lang="en-US" sz="1000" b="0" dirty="0">
                <a:solidFill>
                  <a:srgbClr val="556072"/>
                </a:solidFill>
                <a:latin typeface="Calibri"/>
              </a:rPr>
              <a:t>70</a:t>
            </a:r>
            <a:r>
              <a:rPr sz="1000" b="0" dirty="0">
                <a:solidFill>
                  <a:srgbClr val="556072"/>
                </a:solidFill>
                <a:latin typeface="Calibri"/>
              </a:rPr>
              <a:t> </a:t>
            </a:r>
            <a:r>
              <a:rPr lang="en-US" sz="1000" b="0" dirty="0">
                <a:solidFill>
                  <a:srgbClr val="556072"/>
                </a:solidFill>
                <a:latin typeface="Calibri"/>
              </a:rPr>
              <a:t>FYP</a:t>
            </a:r>
            <a:r>
              <a:rPr sz="1000" b="0" dirty="0">
                <a:solidFill>
                  <a:srgbClr val="556072"/>
                </a:solidFill>
                <a:latin typeface="Calibri"/>
              </a:rPr>
              <a:t>  ·  Template 4.2 — Financial Advisor 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60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8E86"/>
                </a:solidFill>
                <a:latin typeface="Calibri"/>
              </a:rPr>
              <a:t>KEY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1A2E"/>
                </a:solidFill>
                <a:latin typeface="Calibri"/>
              </a:rPr>
              <a:t>The terms used in this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01A2E"/>
                </a:solidFill>
                <a:latin typeface="Calibri"/>
              </a:rPr>
              <a:t>SEC EDGAR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057400"/>
            <a:ext cx="7772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556072"/>
                </a:solidFill>
                <a:latin typeface="Calibri"/>
              </a:rPr>
              <a:t>The US government's free, public database of company filings.  Used in this project as the source of raw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69209"/>
            <a:ext cx="10927080" cy="635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127248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01A2E"/>
                </a:solidFill>
                <a:latin typeface="Calibri"/>
              </a:rPr>
              <a:t>8-K filing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127248"/>
            <a:ext cx="7772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556072"/>
                </a:solidFill>
                <a:latin typeface="Calibri"/>
              </a:rPr>
              <a:t>A short report companies must publish when something important happens, including earnings results.  Used in this project as the signal to start analysing a release.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39057"/>
            <a:ext cx="10927080" cy="635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197096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01A2E"/>
                </a:solidFill>
                <a:latin typeface="Calibri"/>
              </a:rPr>
              <a:t>Earnings call transcript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477101"/>
            <a:ext cx="77724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dirty="0">
                <a:solidFill>
                  <a:srgbClr val="556072"/>
                </a:solidFill>
                <a:latin typeface="Calibri"/>
              </a:rPr>
              <a:t>A written record of the executives quarterly briefing to investors.  Used in this project to detect shifts in tone and outlook.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208905"/>
            <a:ext cx="10927080" cy="635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266944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01A2E"/>
                </a:solidFill>
                <a:latin typeface="Calibri"/>
              </a:rPr>
              <a:t>Consensus estimate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546949"/>
            <a:ext cx="77724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dirty="0">
                <a:solidFill>
                  <a:srgbClr val="556072"/>
                </a:solidFill>
                <a:latin typeface="Calibri"/>
              </a:rPr>
              <a:t>The average prediction analysts make for a company's earnings.  Used in this project as context to help the user see whether the actual result was above or below expectations.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27080" cy="635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556072"/>
                </a:solidFill>
                <a:latin typeface="Calibri"/>
              </a:rPr>
              <a:t>Sift  ·  CM30</a:t>
            </a:r>
            <a:r>
              <a:rPr lang="en-US" sz="1000" b="0" dirty="0">
                <a:solidFill>
                  <a:srgbClr val="556072"/>
                </a:solidFill>
                <a:latin typeface="Calibri"/>
              </a:rPr>
              <a:t>70 FYP</a:t>
            </a:r>
            <a:r>
              <a:rPr sz="1000" b="0" dirty="0">
                <a:solidFill>
                  <a:srgbClr val="556072"/>
                </a:solidFill>
                <a:latin typeface="Calibri"/>
              </a:rPr>
              <a:t>  ·  Template 4.2 — Financial Advisor 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60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8E86"/>
                </a:solidFill>
                <a:latin typeface="Calibri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813816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01A2E"/>
                </a:solidFill>
                <a:latin typeface="Calibri"/>
              </a:rPr>
              <a:t>Four works that ground the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8E86"/>
                </a:solidFill>
                <a:latin typeface="Calibri"/>
              </a:rPr>
              <a:t>ACADEMIC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50008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1A2E"/>
                </a:solidFill>
                <a:latin typeface="Calibri"/>
              </a:rPr>
              <a:t>FinBERT  ·  Araci, 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70632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01A2E"/>
                </a:solidFill>
                <a:latin typeface="Calibri"/>
              </a:rPr>
              <a:t>BERT fine-tuned for financial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5440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072"/>
                </a:solidFill>
                <a:latin typeface="Calibri"/>
              </a:rPr>
              <a:t>GPT-4o with careful prompting now beats it by ~10% (MDPI 2025). Justifies using a general-purpose LLM over a specialised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8E86"/>
                </a:solidFill>
                <a:latin typeface="Calibri"/>
              </a:rPr>
              <a:t>ACADEMIC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50008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1A2E"/>
                </a:solidFill>
                <a:latin typeface="Calibri"/>
              </a:rPr>
              <a:t>Financial literacy  ·  Lusardi &amp; Mitchell, 2014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70632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01A2E"/>
                </a:solidFill>
                <a:latin typeface="Calibri"/>
              </a:rPr>
              <a:t>Retail investors lack the vocabulary and context to parse financial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91840"/>
            <a:ext cx="5440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072"/>
                </a:solidFill>
                <a:latin typeface="Calibri"/>
              </a:rPr>
              <a:t>Establishes the underlying gap the project aims to address with plain-English explanations.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8E86"/>
                </a:solidFill>
                <a:latin typeface="Calibri"/>
              </a:rPr>
              <a:t>COMMERCIAL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53128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1A2E"/>
                </a:solidFill>
                <a:latin typeface="Calibri"/>
              </a:rPr>
              <a:t>AlphaSense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73752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01A2E"/>
                </a:solidFill>
                <a:latin typeface="Calibri"/>
              </a:rPr>
              <a:t>Professional-grade earnings synthesis.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54406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556072"/>
                </a:solidFill>
                <a:latin typeface="Calibri"/>
              </a:rPr>
              <a:t>Proves the synthesis task is achievable</a:t>
            </a:r>
            <a:r>
              <a:rPr lang="en-US" sz="1200" b="0" dirty="0">
                <a:solidFill>
                  <a:srgbClr val="556072"/>
                </a:solidFill>
                <a:latin typeface="Calibri"/>
              </a:rPr>
              <a:t>,</a:t>
            </a:r>
            <a:r>
              <a:rPr sz="1200" b="0" dirty="0">
                <a:solidFill>
                  <a:srgbClr val="556072"/>
                </a:solidFill>
                <a:latin typeface="Calibri"/>
              </a:rPr>
              <a:t> but enterprise-only and not built for non-experts.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160520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8E86"/>
                </a:solidFill>
                <a:latin typeface="Calibri"/>
              </a:rPr>
              <a:t>COMMERCIAL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453128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1A2E"/>
                </a:solidFill>
                <a:latin typeface="Calibri"/>
              </a:rPr>
              <a:t>Yahoo Finance · Broker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873752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01A2E"/>
                </a:solidFill>
                <a:latin typeface="Calibri"/>
              </a:rPr>
              <a:t>Retail-facing surfaces for earnings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394960"/>
            <a:ext cx="5440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556072"/>
                </a:solidFill>
                <a:latin typeface="Calibri"/>
              </a:rPr>
              <a:t>Show the date and a headline number</a:t>
            </a:r>
            <a:r>
              <a:rPr lang="en-US" sz="1200" b="0" dirty="0">
                <a:solidFill>
                  <a:srgbClr val="556072"/>
                </a:solidFill>
                <a:latin typeface="Calibri"/>
              </a:rPr>
              <a:t>,</a:t>
            </a:r>
            <a:r>
              <a:rPr sz="1200" b="0" dirty="0">
                <a:solidFill>
                  <a:srgbClr val="556072"/>
                </a:solidFill>
                <a:latin typeface="Calibri"/>
              </a:rPr>
              <a:t> but offer no explanation, context, or education.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41648"/>
            <a:ext cx="11018520" cy="635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27080" cy="635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dirty="0">
                <a:solidFill>
                  <a:srgbClr val="556072"/>
                </a:solidFill>
                <a:latin typeface="Calibri"/>
              </a:rPr>
              <a:t>Sift  · </a:t>
            </a:r>
            <a:r>
              <a:rPr lang="en-US" sz="1000" dirty="0">
                <a:solidFill>
                  <a:srgbClr val="556072"/>
                </a:solidFill>
              </a:rPr>
              <a:t>CM3070 FYP</a:t>
            </a:r>
            <a:r>
              <a:rPr sz="1000" b="0" dirty="0">
                <a:solidFill>
                  <a:srgbClr val="556072"/>
                </a:solidFill>
                <a:latin typeface="Calibri"/>
              </a:rPr>
              <a:t>  ·  Template 4.2 — Financial Advisor Bot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60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8E86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1A2E"/>
                </a:solidFill>
                <a:latin typeface="Calibri"/>
              </a:rPr>
              <a:t>What gets built, and how.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8E86"/>
                </a:solidFill>
                <a:latin typeface="Calibri"/>
              </a:rP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1A2E"/>
                </a:solidFill>
                <a:latin typeface="Calibri"/>
              </a:rPr>
              <a:t>Pre-earnings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697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56072"/>
                </a:solidFill>
                <a:latin typeface="Calibri"/>
              </a:rPr>
              <a:t>LLM writes a plain-English summary of what to expect from the upcoming release.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6432" y="233172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1A2E"/>
                </a:solidFill>
                <a:latin typeface="Calibri"/>
              </a:rPr>
              <a:t>Filing explainer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2743200"/>
            <a:ext cx="2697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56072"/>
                </a:solidFill>
                <a:latin typeface="Calibri"/>
              </a:rPr>
              <a:t>When an 8-K hits, the LLM produces a plain-English explanation of what was reported.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4" y="233172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1A2E"/>
                </a:solidFill>
                <a:latin typeface="Calibri"/>
              </a:rPr>
              <a:t>Transcript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2743200"/>
            <a:ext cx="2697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556072"/>
                </a:solidFill>
                <a:latin typeface="Calibri"/>
              </a:rPr>
              <a:t>LLM </a:t>
            </a:r>
            <a:r>
              <a:rPr sz="1100" b="0" dirty="0" err="1">
                <a:solidFill>
                  <a:srgbClr val="556072"/>
                </a:solidFill>
                <a:latin typeface="Calibri"/>
              </a:rPr>
              <a:t>summarises</a:t>
            </a:r>
            <a:r>
              <a:rPr sz="1100" b="0" dirty="0">
                <a:solidFill>
                  <a:srgbClr val="556072"/>
                </a:solidFill>
                <a:latin typeface="Calibri"/>
              </a:rPr>
              <a:t> the earnings call — key points, tone, and any change in outlook.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9136" y="233172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1A2E"/>
                </a:solidFill>
                <a:latin typeface="Calibri"/>
              </a:rPr>
              <a:t>Ask Sift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9136" y="2743200"/>
            <a:ext cx="2697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56072"/>
                </a:solidFill>
                <a:latin typeface="Calibri"/>
              </a:rPr>
              <a:t>User can ask follow-up questions about any term, figure, or section they don't understand.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89120"/>
            <a:ext cx="10927080" cy="635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8E86"/>
                </a:solidFill>
                <a:latin typeface="Calibri"/>
              </a:rPr>
              <a:t>TECHNICAL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530352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556072"/>
                </a:solidFill>
                <a:latin typeface="Calibri"/>
              </a:rPr>
              <a:t>Python </a:t>
            </a:r>
            <a:r>
              <a:rPr lang="en-US" sz="1200" b="0" dirty="0">
                <a:solidFill>
                  <a:srgbClr val="556072"/>
                </a:solidFill>
                <a:latin typeface="Calibri"/>
              </a:rPr>
              <a:t>for </a:t>
            </a:r>
            <a:r>
              <a:rPr sz="1200" b="0" dirty="0">
                <a:solidFill>
                  <a:srgbClr val="556072"/>
                </a:solidFill>
                <a:latin typeface="Calibri"/>
              </a:rPr>
              <a:t>Modal for ingestion and LLM orchestration.</a:t>
            </a:r>
          </a:p>
          <a:p>
            <a:pPr algn="l"/>
            <a:r>
              <a:rPr sz="1200" b="0" dirty="0" err="1">
                <a:solidFill>
                  <a:srgbClr val="556072"/>
                </a:solidFill>
                <a:latin typeface="Calibri"/>
              </a:rPr>
              <a:t>Supabase</a:t>
            </a:r>
            <a:r>
              <a:rPr sz="1200" b="0" dirty="0">
                <a:solidFill>
                  <a:srgbClr val="556072"/>
                </a:solidFill>
                <a:latin typeface="Calibri"/>
              </a:rPr>
              <a:t> for storage and user accounts.</a:t>
            </a:r>
          </a:p>
          <a:p>
            <a:pPr algn="l"/>
            <a:r>
              <a:rPr sz="1200" b="0" dirty="0">
                <a:solidFill>
                  <a:srgbClr val="556072"/>
                </a:solidFill>
                <a:latin typeface="Calibri"/>
              </a:rPr>
              <a:t>React Native mobile app on iOS and Android.</a:t>
            </a:r>
          </a:p>
          <a:p>
            <a:pPr algn="l"/>
            <a:r>
              <a:rPr sz="1200" b="0" dirty="0">
                <a:solidFill>
                  <a:srgbClr val="556072"/>
                </a:solidFill>
                <a:latin typeface="Calibri"/>
              </a:rPr>
              <a:t>AI core: a large language model (Claude or GPT) handles all </a:t>
            </a:r>
            <a:r>
              <a:rPr sz="1200" b="0" dirty="0" err="1">
                <a:solidFill>
                  <a:srgbClr val="556072"/>
                </a:solidFill>
                <a:latin typeface="Calibri"/>
              </a:rPr>
              <a:t>summarisation</a:t>
            </a:r>
            <a:r>
              <a:rPr sz="1200" b="0" dirty="0">
                <a:solidFill>
                  <a:srgbClr val="556072"/>
                </a:solidFill>
                <a:latin typeface="Calibri"/>
              </a:rPr>
              <a:t>, explanation, and Q&amp;A.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572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8E86"/>
                </a:solidFill>
                <a:latin typeface="Calibri"/>
              </a:rP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937760"/>
            <a:ext cx="5303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556072"/>
                </a:solidFill>
                <a:latin typeface="Calibri"/>
              </a:rPr>
              <a:t>Manual review of LLM outputs against source filings for accuracy.</a:t>
            </a:r>
          </a:p>
          <a:p>
            <a:pPr algn="l"/>
            <a:r>
              <a:rPr sz="1200" b="0" dirty="0">
                <a:solidFill>
                  <a:srgbClr val="556072"/>
                </a:solidFill>
                <a:latin typeface="Calibri"/>
              </a:rPr>
              <a:t>Small user study on whether the explanations actually aid understanding.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27080" cy="635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3796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dirty="0">
                <a:solidFill>
                  <a:srgbClr val="556072"/>
                </a:solidFill>
                <a:latin typeface="Calibri"/>
              </a:rPr>
              <a:t>Sift  · </a:t>
            </a:r>
            <a:r>
              <a:rPr lang="en-US" sz="1000" dirty="0">
                <a:solidFill>
                  <a:srgbClr val="556072"/>
                </a:solidFill>
              </a:rPr>
              <a:t>CM3070 FYP</a:t>
            </a:r>
            <a:r>
              <a:rPr sz="1000" b="0" dirty="0">
                <a:solidFill>
                  <a:srgbClr val="556072"/>
                </a:solidFill>
                <a:latin typeface="Calibri"/>
              </a:rPr>
              <a:t>  ·  Template 4.2 — Financial Advisor 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60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8E86"/>
                </a:solidFill>
                <a:latin typeface="Calibri"/>
              </a:rP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1A2E"/>
                </a:solidFill>
                <a:latin typeface="Calibri"/>
              </a:rPr>
              <a:t>What the submission will contain.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08E86"/>
                </a:solidFill>
                <a:latin typeface="Calibri"/>
              </a:rPr>
              <a:t>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01A2E"/>
                </a:solidFill>
                <a:latin typeface="Calibri"/>
              </a:rPr>
              <a:t>Working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103120"/>
            <a:ext cx="6583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556072"/>
                </a:solidFill>
                <a:latin typeface="Calibri"/>
              </a:rPr>
              <a:t>End-to-end ingestion and LLM-based explanation, running on 50 selected tickers.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37205"/>
            <a:ext cx="10927080" cy="635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08E86"/>
                </a:solidFill>
                <a:latin typeface="Calibri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01A2E"/>
                </a:solidFill>
                <a:latin typeface="Calibri"/>
              </a:rPr>
              <a:t>Evaluation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108960"/>
            <a:ext cx="6583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556072"/>
                </a:solidFill>
                <a:latin typeface="Calibri"/>
              </a:rPr>
              <a:t>Accuracy review against source filings, readability scoring, and user-study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43045"/>
            <a:ext cx="10927080" cy="635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08E86"/>
                </a:solidFill>
                <a:latin typeface="Calibr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01A2E"/>
                </a:solidFill>
                <a:latin typeface="Calibri"/>
              </a:rPr>
              <a:t>Mobile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114800"/>
            <a:ext cx="6583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556072"/>
                </a:solidFill>
                <a:latin typeface="Calibri"/>
              </a:rPr>
              <a:t>A React Native app showing the explanations and Q&amp;A on iOS and Android.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48885"/>
            <a:ext cx="10927080" cy="635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08E86"/>
                </a:solidFill>
                <a:latin typeface="Calibr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2064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01A2E"/>
                </a:solidFill>
                <a:latin typeface="Calibri"/>
              </a:rPr>
              <a:t>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120640"/>
            <a:ext cx="6583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556072"/>
                </a:solidFill>
                <a:latin typeface="Calibri"/>
              </a:rPr>
              <a:t>Architecture notes, prompt design, data sources, and ethics positioning.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27080" cy="635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56072"/>
                </a:solidFill>
                <a:latin typeface="Calibri"/>
              </a:rPr>
              <a:t>Sift  ·  CM3020 AI  ·  Template 4.2 — Financial Advisor 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560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682</Words>
  <Application>Microsoft Office PowerPoint</Application>
  <PresentationFormat>Widescreen</PresentationFormat>
  <Paragraphs>86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LEROY NG ZHUNG ZHI</cp:lastModifiedBy>
  <cp:revision>3</cp:revision>
  <dcterms:created xsi:type="dcterms:W3CDTF">2013-01-27T09:14:16Z</dcterms:created>
  <dcterms:modified xsi:type="dcterms:W3CDTF">2026-05-22T11:21:03Z</dcterms:modified>
  <cp:category/>
</cp:coreProperties>
</file>